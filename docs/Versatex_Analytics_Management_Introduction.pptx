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D9488"/>
                </a:solidFill>
              </a:defRPr>
            </a:pPr>
            <a:r>
              <a:t>Enterprise Procurement Analytics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VTX Solutions / Defoxx Analytics  | 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Enterprise-grade procurement analytics platform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Transform raw procurement data into actionable insights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Comprehensive visibility into organizational spending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End-to-end procure-to-pay process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Key Value Propositions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Centralized spend visibility across all categories and suppliers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AI-powered recommendations with measurable ROI tracking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End-to-end procure-to-pay process analytics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Automated reporting with customizable scheduling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D9488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Core Procurement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Overview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34155"/>
                </a:solidFill>
              </a:defRPr>
            </a:pPr>
            <a:r>
              <a:t>Executive-level snapshot of procurement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Real-time KPI cards (Total Spend, Supplier Count, Transactions)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Interactive charts: Category, Supplier, Monthly Trends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Drill-down capability for detailed breakdowns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Date range filtering with quick presets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931920" cy="3200400"/>
          </a:xfrm>
          <a:prstGeom prst="roundRect">
            <a:avLst/>
          </a:prstGeom>
          <a:solidFill>
            <a:srgbClr val="E8F5F3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46888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Business Value</a:t>
            </a:r>
          </a:p>
          <a:p>
            <a:pPr>
              <a:spcBef>
                <a:spcPts val="1200"/>
              </a:spcBef>
              <a:defRPr sz="1500">
                <a:solidFill>
                  <a:srgbClr val="1E3A5F"/>
                </a:solidFill>
              </a:defRPr>
            </a:pPr>
            <a:r>
              <a:t>Single-pane view for executives to monitor procurement performance at a glance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Categories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34155"/>
                </a:solidFill>
              </a:defRPr>
            </a:pPr>
            <a:r>
              <a:t>Analyze spending by procurement 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Category hierarchy visualization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Subcategory breakdown analysis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Supplier distribution per category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Risk scoring and concentration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931920" cy="3200400"/>
          </a:xfrm>
          <a:prstGeom prst="roundRect">
            <a:avLst/>
          </a:prstGeom>
          <a:solidFill>
            <a:srgbClr val="E8F5F3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46888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Business Value</a:t>
            </a:r>
          </a:p>
          <a:p>
            <a:pPr>
              <a:spcBef>
                <a:spcPts val="1200"/>
              </a:spcBef>
              <a:defRPr sz="1500">
                <a:solidFill>
                  <a:srgbClr val="1E3A5F"/>
                </a:solidFill>
              </a:defRPr>
            </a:pPr>
            <a:r>
              <a:t>Identify category-level savings opportunities and consolidation targets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Suppliers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34155"/>
                </a:solidFill>
              </a:defRPr>
            </a:pPr>
            <a:r>
              <a:t>Supplier portfolio management and risk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HHI concentration risk indicators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Supplier ranking by spend volume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Performance metrics and scorecards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Search and filtering capabilities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931920" cy="3200400"/>
          </a:xfrm>
          <a:prstGeom prst="roundRect">
            <a:avLst/>
          </a:prstGeom>
          <a:solidFill>
            <a:srgbClr val="E8F5F3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46888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Business Value</a:t>
            </a:r>
          </a:p>
          <a:p>
            <a:pPr>
              <a:spcBef>
                <a:spcPts val="1200"/>
              </a:spcBef>
              <a:defRPr sz="1500">
                <a:solidFill>
                  <a:srgbClr val="1E3A5F"/>
                </a:solidFill>
              </a:defRPr>
            </a:pPr>
            <a:r>
              <a:t>Mitigate supplier risk, identify strategic vs. tactical suppliers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D9488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Advanced Spend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Pareto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34155"/>
                </a:solidFill>
              </a:defRPr>
            </a:pPr>
            <a:r>
              <a:t>Apply 80/20 rule to supplier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Cumulative spend visualization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Supplier classification: Critical (80%), Important (15%), Tail (5%)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Drill-down to individual supplier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931920" cy="3200400"/>
          </a:xfrm>
          <a:prstGeom prst="roundRect">
            <a:avLst/>
          </a:prstGeom>
          <a:solidFill>
            <a:srgbClr val="E8F5F3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46888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Business Value</a:t>
            </a:r>
          </a:p>
          <a:p>
            <a:pPr>
              <a:spcBef>
                <a:spcPts val="1200"/>
              </a:spcBef>
              <a:defRPr sz="1500">
                <a:solidFill>
                  <a:srgbClr val="1E3A5F"/>
                </a:solidFill>
              </a:defRPr>
            </a:pPr>
            <a:r>
              <a:t>Focus negotiation efforts on high-impact suppliers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Spend Stratification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34155"/>
                </a:solidFill>
              </a:defRPr>
            </a:pPr>
            <a:r>
              <a:t>Kraljic matrix-style spend segmentation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Four segments: Strategic, Leverage, Routine, Tactical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Spend band analysis ($0-10K to $100K+)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Category and supplier drill-downs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931920" cy="3200400"/>
          </a:xfrm>
          <a:prstGeom prst="roundRect">
            <a:avLst/>
          </a:prstGeom>
          <a:solidFill>
            <a:srgbClr val="E8F5F3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46888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Business Value</a:t>
            </a:r>
          </a:p>
          <a:p>
            <a:pPr>
              <a:spcBef>
                <a:spcPts val="1200"/>
              </a:spcBef>
              <a:defRPr sz="1500">
                <a:solidFill>
                  <a:srgbClr val="1E3A5F"/>
                </a:solidFill>
              </a:defRPr>
            </a:pPr>
            <a:r>
              <a:t>Develop category-specific procurement strategies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Seasonality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34155"/>
                </a:solidFill>
              </a:defRPr>
            </a:pPr>
            <a:r>
              <a:t>Identify spending patterns across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Monthly spending heatmap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Seasonal index calculations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Peak/trough identification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Fiscal vs. calendar year toggle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931920" cy="3200400"/>
          </a:xfrm>
          <a:prstGeom prst="roundRect">
            <a:avLst/>
          </a:prstGeom>
          <a:solidFill>
            <a:srgbClr val="E8F5F3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46888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Business Value</a:t>
            </a:r>
          </a:p>
          <a:p>
            <a:pPr>
              <a:spcBef>
                <a:spcPts val="1200"/>
              </a:spcBef>
              <a:defRPr sz="1500">
                <a:solidFill>
                  <a:srgbClr val="1E3A5F"/>
                </a:solidFill>
              </a:defRPr>
            </a:pPr>
            <a:r>
              <a:t>Optimize procurement timing and budget planning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Year-over-Year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34155"/>
                </a:solidFill>
              </a:defRPr>
            </a:pPr>
            <a:r>
              <a:t>Compare spending trends across years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Dual-year variance analysis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Top gainers and decliners identification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Category and supplier drill-downs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931920" cy="3200400"/>
          </a:xfrm>
          <a:prstGeom prst="roundRect">
            <a:avLst/>
          </a:prstGeom>
          <a:solidFill>
            <a:srgbClr val="E8F5F3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46888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Business Value</a:t>
            </a:r>
          </a:p>
          <a:p>
            <a:pPr>
              <a:spcBef>
                <a:spcPts val="1200"/>
              </a:spcBef>
              <a:defRPr sz="1500">
                <a:solidFill>
                  <a:srgbClr val="1E3A5F"/>
                </a:solidFill>
              </a:defRPr>
            </a:pPr>
            <a:r>
              <a:t>Track procurement efficiency improvements over 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Tail Spend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34155"/>
                </a:solidFill>
              </a:defRPr>
            </a:pPr>
            <a:r>
              <a:t>Identify fragmented, low-value spending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Adjustable threshold slider for classification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Vendor fragmentation metrics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Consolidation opportunity identification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931920" cy="3200400"/>
          </a:xfrm>
          <a:prstGeom prst="roundRect">
            <a:avLst/>
          </a:prstGeom>
          <a:solidFill>
            <a:srgbClr val="E8F5F3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46888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Business Value</a:t>
            </a:r>
          </a:p>
          <a:p>
            <a:pPr>
              <a:spcBef>
                <a:spcPts val="1200"/>
              </a:spcBef>
              <a:defRPr sz="1500">
                <a:solidFill>
                  <a:srgbClr val="1E3A5F"/>
                </a:solidFill>
              </a:defRPr>
            </a:pPr>
            <a:r>
              <a:t>Reduce administrative overhead, consolidate vendor base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D9488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AI &amp; Predictive Analytics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AI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34155"/>
                </a:solidFill>
              </a:defRPr>
            </a:pPr>
            <a:r>
              <a:t>AI-powered recommendations and ROI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Cost optimization recommendations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Supplier risk alerts and anomaly detection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Consolidation opportunities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ROI tracking: measure actual vs. projected savings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931920" cy="3200400"/>
          </a:xfrm>
          <a:prstGeom prst="roundRect">
            <a:avLst/>
          </a:prstGeom>
          <a:solidFill>
            <a:srgbClr val="E8F5F3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46888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Business Value</a:t>
            </a:r>
          </a:p>
          <a:p>
            <a:pPr>
              <a:spcBef>
                <a:spcPts val="1200"/>
              </a:spcBef>
              <a:defRPr sz="1500">
                <a:solidFill>
                  <a:srgbClr val="1E3A5F"/>
                </a:solidFill>
              </a:defRPr>
            </a:pPr>
            <a:r>
              <a:t>Data-driven decision support with measurable outcomes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Predictive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34155"/>
                </a:solidFill>
              </a:defRPr>
            </a:pPr>
            <a:r>
              <a:t>Forecast future spending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Spend prediction models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Demand forecasting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Model accuracy metrics (MAPE, R²)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Confidence intervals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931920" cy="3200400"/>
          </a:xfrm>
          <a:prstGeom prst="roundRect">
            <a:avLst/>
          </a:prstGeom>
          <a:solidFill>
            <a:srgbClr val="E8F5F3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46888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Business Value</a:t>
            </a:r>
          </a:p>
          <a:p>
            <a:pPr>
              <a:spcBef>
                <a:spcPts val="1200"/>
              </a:spcBef>
              <a:defRPr sz="1500">
                <a:solidFill>
                  <a:srgbClr val="1E3A5F"/>
                </a:solidFill>
              </a:defRPr>
            </a:pPr>
            <a:r>
              <a:t>Improve budgeting accuracy and cash flow planning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D9488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Risk &amp; Compliance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Contract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34155"/>
                </a:solidFill>
              </a:defRPr>
            </a:pPr>
            <a:r>
              <a:t>Maximize contract value and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Contract portfolio overview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Utilization tracking (% of contracted spend)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Expiration alerts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Category breakdown per contract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931920" cy="3200400"/>
          </a:xfrm>
          <a:prstGeom prst="roundRect">
            <a:avLst/>
          </a:prstGeom>
          <a:solidFill>
            <a:srgbClr val="E8F5F3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46888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Business Value</a:t>
            </a:r>
          </a:p>
          <a:p>
            <a:pPr>
              <a:spcBef>
                <a:spcPts val="1200"/>
              </a:spcBef>
              <a:defRPr sz="1500">
                <a:solidFill>
                  <a:srgbClr val="1E3A5F"/>
                </a:solidFill>
              </a:defRPr>
            </a:pPr>
            <a:r>
              <a:t>Reduce off-contract spending, improve contract leverage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Maverick Spend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34155"/>
                </a:solidFill>
              </a:defRPr>
            </a:pPr>
            <a:r>
              <a:t>Identify and resolve policy violations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Policy violation listing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Batch resolution capability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Notes and documentation tracking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Trend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931920" cy="3200400"/>
          </a:xfrm>
          <a:prstGeom prst="roundRect">
            <a:avLst/>
          </a:prstGeom>
          <a:solidFill>
            <a:srgbClr val="E8F5F3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46888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Business Value</a:t>
            </a:r>
          </a:p>
          <a:p>
            <a:pPr>
              <a:spcBef>
                <a:spcPts val="1200"/>
              </a:spcBef>
              <a:defRPr sz="1500">
                <a:solidFill>
                  <a:srgbClr val="1E3A5F"/>
                </a:solidFill>
              </a:defRPr>
            </a:pPr>
            <a:r>
              <a:t>Enforce procurement policies, reduce compliance risk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D9488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Procure-to-Pay Analytics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P2P Analytics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P2P Cycle Analysis — End-to-end process timing and bottlenecks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3-Way Matching — PO vs. GR vs. Invoice with exception management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Invoice Aging — AP aging buckets and DPO trends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Requisitions — PR workflow and approval analysis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Purchase Orders — PO compliance and amendment tracking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Supplier Payments — Payment performance scorecards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P2P Cycle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34155"/>
                </a:solidFill>
              </a:defRPr>
            </a:pPr>
            <a:r>
              <a:t>End-to-end process 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Full cycle timing: PR → PO → GR → Invoice → Payment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Bottleneck identification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Process funnel visualization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Category and supplier trends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931920" cy="3200400"/>
          </a:xfrm>
          <a:prstGeom prst="roundRect">
            <a:avLst/>
          </a:prstGeom>
          <a:solidFill>
            <a:srgbClr val="E8F5F3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46888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Business Value</a:t>
            </a:r>
          </a:p>
          <a:p>
            <a:pPr>
              <a:spcBef>
                <a:spcPts val="1200"/>
              </a:spcBef>
              <a:defRPr sz="1500">
                <a:solidFill>
                  <a:srgbClr val="1E3A5F"/>
                </a:solidFill>
              </a:defRPr>
            </a:pPr>
            <a:r>
              <a:t>Reduce cycle times, improve operational efficiency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3-Way Matching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34155"/>
                </a:solidFill>
              </a:defRPr>
            </a:pPr>
            <a:r>
              <a:t>Invoice accuracy and exception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PO vs. GR vs. Invoice matching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Exception dashboard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Price and quantity variance analysis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Individual and bulk resolution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931920" cy="3200400"/>
          </a:xfrm>
          <a:prstGeom prst="roundRect">
            <a:avLst/>
          </a:prstGeom>
          <a:solidFill>
            <a:srgbClr val="E8F5F3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46888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Business Value</a:t>
            </a:r>
          </a:p>
          <a:p>
            <a:pPr>
              <a:spcBef>
                <a:spcPts val="1200"/>
              </a:spcBef>
              <a:defRPr sz="1500">
                <a:solidFill>
                  <a:srgbClr val="1E3A5F"/>
                </a:solidFill>
              </a:defRPr>
            </a:pPr>
            <a:r>
              <a:t>Prevent overpayments, reduce invoice disputes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Invoice Aging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334155"/>
                </a:solidFill>
              </a:defRPr>
            </a:pPr>
            <a:r>
              <a:t>Accounts payable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Aging buckets: Current, 31-60, 61-90, 90+ days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Days Payable Outstanding (DPO) trends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Cash flow forecasting</a:t>
            </a:r>
          </a:p>
          <a:p>
            <a:pPr>
              <a:spcBef>
                <a:spcPts val="800"/>
              </a:spcBef>
              <a:defRPr sz="1600">
                <a:solidFill>
                  <a:srgbClr val="334155"/>
                </a:solidFill>
              </a:defRPr>
            </a:pPr>
            <a:r>
              <a:t>• Supplier aging breakdown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86000"/>
            <a:ext cx="3931920" cy="3200400"/>
          </a:xfrm>
          <a:prstGeom prst="roundRect">
            <a:avLst/>
          </a:prstGeom>
          <a:solidFill>
            <a:srgbClr val="E8F5F3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2468880"/>
            <a:ext cx="35661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Business Value</a:t>
            </a:r>
          </a:p>
          <a:p>
            <a:pPr>
              <a:spcBef>
                <a:spcPts val="1200"/>
              </a:spcBef>
              <a:defRPr sz="1500">
                <a:solidFill>
                  <a:srgbClr val="1E3A5F"/>
                </a:solidFill>
              </a:defRPr>
            </a:pPr>
            <a:r>
              <a:t>Optimize working capital, maintain supplier relationships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0D9488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Reporting &amp; Administration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Reports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0" y="2286000"/>
            <a:ext cx="4389120" cy="13716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246888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Business Value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Standardized reporting with reduced manual effort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14+ Report Types: Executive Summary, Spend Analysis, Pareto, and more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P2P Reports: PR Status, PO Compliance, AP Aging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Output Formats: PDF, Excel, CSV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Scheduling: Daily, Weekly, Monthly, Quarterly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Organization Branding: Logo, colors, custom footer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Platform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Role-Based Access: Admin, Manager, Viewer roles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Multi-Organization Support: Users can belong to multiple orgs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Audit Logging: Track all user actions for compliance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Responsive Design: Desktop, tablet, and mobile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Dark/Light Mode: Customizable visual theme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Real-Time Updates: Automatic data refresh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Summary by User 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2860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Primary Modules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</a:defRPr>
                      </a:pPr>
                      <a:r>
                        <a:t>Executive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Overview, AI Insights, Reports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</a:defRPr>
                      </a:pPr>
                      <a:r>
                        <a:t>Procurement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Pareto, Stratification, Contracts, Maverick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</a:defRPr>
                      </a:pPr>
                      <a:r>
                        <a:t>Category Manager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Categories, Suppliers, Tail Spend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</a:defRPr>
                      </a:pPr>
                      <a:r>
                        <a:t>AP/Finance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Invoice Aging, 3-Way Matching, Supplier 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34155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4155"/>
                          </a:solidFill>
                        </a:defRPr>
                      </a:pPr>
                      <a:r>
                        <a:t>P2P Cycle, Requisitions, Purchase Orders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Versatex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65960"/>
            <a:ext cx="1828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1. Demo Session — Schedule hands-on walkthrough of key modules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2. Data Requirements — Identify data sources for initial load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3. User Provisioning — Define roles and access levels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>
                <a:solidFill>
                  <a:srgbClr val="334155"/>
                </a:solidFill>
              </a:defRPr>
            </a:pPr>
            <a:r>
              <a:t>• 4. Report Templates — Customize report branding and schedules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D9488"/>
                </a:solidFill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VTX Solutions / Defoxx Analytics  |  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